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title slide sets the stage for the entire presentation. It should be clean, professional, and clearly state the project's name and its high-level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crucial for stakeholders. It immediately answers 'What is this about and why should I care?'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clearly articulates the four key pillars of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detailed diagram shows the two separate applications and how they interact. The Cortex Engine (left) is the testing tool, and the E-Commerce App (right) is the target being tested. All interactions are orchestrated and serverless.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sets the agenda for the live demo portion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ROI is clear. The platform pays for itself by avoiding the cost of a single engineer's time for one week, while continuously reducing infrastructure spend and mitigating outage risks.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Cortex Performance Engine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 i="1">
                <a:solidFill>
                  <a:srgbClr val="808080"/>
                </a:solidFill>
              </a:defRPr>
            </a:pPr>
            <a:r>
              <a:t>An Intelligent, Agentic Resilience &amp; Performance Platform on AWS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Executive Summary: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The Problem:</a:t>
            </a:r>
            <a:r>
              <a:rPr b="0" i="0"/>
              <a:t> Our current performance testing is slow, manual, and costly, creating a bottleneck for innovation and leaving us vulnerable to production failures.</a:t>
            </a:r>
          </a:p>
          <a:p>
            <a:pPr>
              <a:defRPr b="1" i="0" sz="2400"/>
            </a:pPr>
            <a:r>
              <a:t>The Solution:</a:t>
            </a:r>
            <a:r>
              <a:rPr b="0" i="0"/>
              <a:t> The Cortex Performance Engine is a serverless, AI-driven platform that automates the entire resilience engineering lifecycle, from test creation to root cause analysis.</a:t>
            </a:r>
          </a:p>
          <a:p>
            <a:pPr>
              <a:defRPr b="1" i="0" sz="2400"/>
            </a:pPr>
            <a:r>
              <a:t>The Ask:</a:t>
            </a:r>
            <a:r>
              <a:rPr b="0" i="0"/>
              <a:t> We seek approval to deploy the prototype and integrate it with our primary e-commerce application to validate its business impact.</a:t>
            </a:r>
          </a:p>
          <a:p>
            <a:pPr>
              <a:defRPr b="1" i="0" sz="2400"/>
            </a:pPr>
            <a:r>
              <a:t>The ROI:</a:t>
            </a:r>
            <a:r>
              <a:rPr b="0" i="0"/>
              <a:t> We project a 90%+ reduction in testing infrastructure costs and a 95%+ reduction in manual effort, enabling faster delivery and more resilient applications.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1. The Strategic Objective: Why We Need This</a:t>
            </a:r>
          </a:p>
          <a:p>
            <a:pPr>
              <a:defRPr sz="2400"/>
            </a:pPr>
            <a:r>
              <a:t>2. The Problem with the Status Quo</a:t>
            </a:r>
          </a:p>
          <a:p>
            <a:pPr>
              <a:defRPr sz="2400"/>
            </a:pPr>
            <a:r>
              <a:t>3. Our Solution: The Cortex Performance Engine</a:t>
            </a:r>
          </a:p>
          <a:p>
            <a:pPr>
              <a:defRPr sz="2400"/>
            </a:pPr>
            <a:r>
              <a:t>4. Architecture Deep Dive</a:t>
            </a:r>
          </a:p>
          <a:p>
            <a:pPr>
              <a:defRPr sz="2400"/>
            </a:pPr>
            <a:r>
              <a:t>5. Key Advantages &amp; Business Impact</a:t>
            </a:r>
          </a:p>
          <a:p>
            <a:pPr>
              <a:defRPr sz="2400"/>
            </a:pPr>
            <a:r>
              <a:t>6. Live Prototype Demonstration</a:t>
            </a:r>
          </a:p>
          <a:p>
            <a:pPr>
              <a:defRPr sz="2400"/>
            </a:pPr>
            <a:r>
              <a:t>7. Financials: Cost &amp; ROI Analysis</a:t>
            </a:r>
          </a:p>
          <a:p>
            <a:pPr>
              <a:defRPr sz="2400"/>
            </a:pPr>
            <a:r>
              <a:t>8. Roadmap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Strategic Objective: Speed with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400"/>
            </a:pPr>
            <a:r>
              <a:t>Our core business objective is to accelerate feature delivery while ensuring rock-solid application stability and performance.</a:t>
            </a:r>
          </a:p>
          <a:p>
            <a:pPr>
              <a:defRPr sz="2400"/>
            </a:pPr>
            <a:r>
              <a:t>To achieve this, we must move from a reactive, manual testing model to a proactive, automated resilience validation culture.</a:t>
            </a:r>
          </a:p>
          <a:p>
            <a:pPr lvl="1">
              <a:defRPr b="0" i="1" sz="2400"/>
            </a:pPr>
            <a:r>
              <a:t>The Cortex Performance Engine is the key enabler of this strategic shift.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Problem: The High Cost of Manual Testing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67200"/>
                <a:gridCol w="4267200"/>
                <a:gridCol w="426720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Impact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Manual Effort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Engineers spend weeks writing brittle test scripts.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Slows down release cycles; High personnel cost.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High Infrastructure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Requires dedicated, always-on servers for test controllers.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Wasteful spending; Significant maintenance overhead.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Disconnected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results, server metrics, and logs are in different systems.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Difficult to correlate cause and effect; Slow root cause analysis.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Production Gaps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Tests are based on assumptions, not real user behavior.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False sense of security; Production incidents still occur.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The Solution: Cortex Performance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Chatbot-Driven:</a:t>
            </a:r>
            <a:r>
              <a:rPr b="0" i="0"/>
              <a:t> Users define and launch complex tests using simple, natural language.</a:t>
            </a:r>
          </a:p>
          <a:p>
            <a:pPr>
              <a:defRPr b="1" i="0" sz="2400"/>
            </a:pPr>
            <a:r>
              <a:t>AI-Powered:</a:t>
            </a:r>
            <a:r>
              <a:rPr b="0" i="0"/>
              <a:t> Generative AI (Amazon Bedrock) analyzes logs, generates test scripts, and writes expert-level performance reports automatically.</a:t>
            </a:r>
          </a:p>
          <a:p>
            <a:pPr>
              <a:defRPr b="1" i="0" sz="2400"/>
            </a:pPr>
            <a:r>
              <a:t>Fully Automated:</a:t>
            </a:r>
            <a:r>
              <a:rPr b="0" i="0"/>
              <a:t> The platform is orchestrated by AWS Step Functions, requiring zero manual intervention from start to finish.</a:t>
            </a:r>
          </a:p>
          <a:p>
            <a:pPr>
              <a:defRPr b="1" i="0" sz="2400"/>
            </a:pPr>
            <a:r>
              <a:t>Cost-Optimized:</a:t>
            </a:r>
            <a:r>
              <a:rPr b="0" i="0"/>
              <a:t> Built on a serverless foundation (Lambda, Fargate Spot) to minimize costs, projecting a 90%+ reduction in test infrastructure spend.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Detailed Architecture: Cortex Engine &amp; Target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13716000" cy="137160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/>
            </a:pPr>
            <a:r>
              <a:t>User &amp; CI/CD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971800"/>
            <a:ext cx="6400800" cy="411480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/>
            </a:pPr>
            <a:r>
              <a:t>Cortex Performance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0" y="2971800"/>
            <a:ext cx="6400800" cy="411480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/>
            </a:pPr>
            <a:r>
              <a:t>Target Application: E-Commerce Web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828800"/>
            <a:ext cx="9144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User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0" y="1828800"/>
            <a:ext cx="18288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GitHub Actions</a:t>
            </a:r>
          </a:p>
          <a:p>
            <a:r>
              <a:t>(CI/CD Pipeline)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965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1. User initiates test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1828800"/>
            <a:ext cx="13716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AWS Lex</a:t>
            </a:r>
          </a:p>
          <a:p>
            <a:r>
              <a:t>(Chatbot)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57600"/>
            <a:ext cx="2286000" cy="9144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AWS Step Functions</a:t>
            </a:r>
          </a:p>
          <a:p>
            <a:r>
              <a:t>(Orchestrator)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8006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2. Orchestrates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0" y="34290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Agent: Log Analyzer</a:t>
            </a:r>
          </a:p>
          <a:p>
            <a:r>
              <a:t>(Lambda)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41148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Agent: Script Generator</a:t>
            </a:r>
          </a:p>
          <a:p>
            <a:r>
              <a:t>(Bedrock)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48006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Agent: Test Executor</a:t>
            </a:r>
          </a:p>
          <a:p>
            <a:r>
              <a:t>(Fargate Spot + JMeter)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54864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Agent: Report Synthesizer</a:t>
            </a:r>
          </a:p>
          <a:p>
            <a:r>
              <a:t>(Bedrock)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61722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Agent: Chaos Injector</a:t>
            </a:r>
          </a:p>
          <a:p>
            <a:r>
              <a:t>(SSM)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3657600"/>
            <a:ext cx="18288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CloudFront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0" y="36576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S3 Bucket</a:t>
            </a:r>
          </a:p>
          <a:p>
            <a:r>
              <a:t>(React Frontend)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5029200"/>
            <a:ext cx="18288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API Gateway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0" y="50292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Lambda</a:t>
            </a:r>
          </a:p>
          <a:p>
            <a:r>
              <a:t>(FastAPI Backend)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0" y="5943600"/>
            <a:ext cx="27432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CloudWatch Logs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7315200"/>
            <a:ext cx="5486400" cy="685800"/>
          </a:xfrm>
          <a:prstGeom prst="rect">
            <a:avLst/>
          </a:prstGeom>
          <a:solidFill>
            <a:srgbClr val="DCE6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t>S3 Artifacts Bucket</a:t>
            </a:r>
          </a:p>
          <a:p>
            <a:r>
              <a:t>(Logs, Scripts, Reports)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937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3. Applies Load / Injects 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6080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4. Reads Logs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Key Advantages: The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Accelerated Delivery:</a:t>
            </a:r>
            <a:r>
              <a:rPr b="0" i="0"/>
              <a:t> Reduce test creation time from weeks to minutes, removing bottlenecks and enabling faster time-to-market.</a:t>
            </a:r>
          </a:p>
          <a:p>
            <a:pPr>
              <a:defRPr b="1" i="0" sz="2400"/>
            </a:pPr>
            <a:r>
              <a:t>Drastic Cost Reduction:</a:t>
            </a:r>
            <a:r>
              <a:rPr b="0" i="0"/>
              <a:t> Save over 90% on infrastructure costs by leveraging a serverless, pay-per-use model instead of always-on servers.</a:t>
            </a:r>
          </a:p>
          <a:p>
            <a:pPr>
              <a:defRPr b="1" i="0" sz="2400"/>
            </a:pPr>
            <a:r>
              <a:t>Increased Resilience:</a:t>
            </a:r>
            <a:r>
              <a:rPr b="0" i="0"/>
              <a:t> Proactively find and fix performance and chaos issues before they impact customers, reducing the risk of costly outages.</a:t>
            </a:r>
          </a:p>
          <a:p>
            <a:pPr>
              <a:defRPr b="1" i="0" sz="2400"/>
            </a:pPr>
            <a:r>
              <a:t>Improved Developer Productivity:</a:t>
            </a:r>
            <a:r>
              <a:rPr b="0" i="0"/>
              <a:t> Automate tedious tasks, freeing up expert engineers to focus on innovation and high-value work.</a:t>
            </a:r>
          </a:p>
          <a:p>
            <a:pPr>
              <a:defRPr b="1" i="0" sz="2400"/>
            </a:pPr>
            <a:r>
              <a:t>Democratized Testing:</a:t>
            </a:r>
            <a:r>
              <a:rPr b="0" i="0"/>
              <a:t> Empower more team members to run sophisticated tests via a simple chatbot, fostering a culture of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Live Prototype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1. Triggering the Test:</a:t>
            </a:r>
            <a:r>
              <a:rPr b="0" i="0"/>
              <a:t> We will interact with the chatbot in the AWS Lex console to launch a load test.</a:t>
            </a:r>
          </a:p>
          <a:p>
            <a:pPr>
              <a:defRPr b="1" i="0" sz="2400"/>
            </a:pPr>
            <a:r>
              <a:t>2. Monitoring the Pipeline:</a:t>
            </a:r>
            <a:r>
              <a:rPr b="0" i="0"/>
              <a:t> We will observe the AWS Step Functions graph to see the automated workflow in real-time.</a:t>
            </a:r>
          </a:p>
          <a:p>
            <a:pPr>
              <a:defRPr b="1" i="0" sz="2400"/>
            </a:pPr>
            <a:r>
              <a:t>3. Viewing the AI-Generated Report:</a:t>
            </a:r>
            <a:r>
              <a:rPr b="0" i="0"/>
              <a:t> We will review the final PDF report in S3, complete with metrics, analysis, and AI-generated recommendations.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Financials: Cost &amp; ROI Analysis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2286000"/>
          <a:ext cx="12801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  <a:gridCol w="320040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Traditional Manual Approach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Agentic Platform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0052A5"/>
                          </a:solidFill>
                        </a:defRPr>
                      </a:pPr>
                      <a:r>
                        <a:t>Savings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Personnel Effort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40-80 hours (~$4k-$8k)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 1 hour (~$100)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&gt;98%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Test Infrastructure (monthly)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~$500+ (always-on servers)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&lt;$30 (pay-per-use)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&gt;94% Reduction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Reporting &amp; Analysis (per 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4-8 hours (~$400-$800)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 hours (fully automated)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100% Reduction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Roadmap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2801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b="1" i="0" sz="2400"/>
            </a:pPr>
            <a:r>
              <a:t>Phase 1: Deploy &amp; Validate (This Quarter)</a:t>
            </a:r>
          </a:p>
          <a:p>
            <a:pPr lvl="1">
              <a:defRPr b="0" i="0" sz="2400"/>
            </a:pPr>
            <a:r>
              <a:t>Deploy the Cortex Engine prototype to AWS.</a:t>
            </a:r>
          </a:p>
          <a:p>
            <a:pPr lvl="1">
              <a:defRPr b="0" i="0" sz="2400"/>
            </a:pPr>
            <a:r>
              <a:t>Integrate with the e-commerce application.</a:t>
            </a:r>
          </a:p>
          <a:p>
            <a:pPr lvl="1">
              <a:defRPr b="0" i="0" sz="2400"/>
            </a:pPr>
            <a:r>
              <a:t>Execute baseline tests and validate cost savings and performance metrics.</a:t>
            </a:r>
          </a:p>
          <a:p>
            <a:pPr>
              <a:defRPr b="1" i="0" sz="2400"/>
            </a:pPr>
            <a:r>
              <a:t>Phase 2: Enhance &amp; Expand (Next Quarter)</a:t>
            </a:r>
          </a:p>
          <a:p>
            <a:pPr lvl="1">
              <a:defRPr b="0" i="0" sz="2400"/>
            </a:pPr>
            <a:r>
              <a:t>Onboard additional development teams.</a:t>
            </a:r>
          </a:p>
          <a:p>
            <a:pPr lvl="1">
              <a:defRPr b="0" i="0" sz="2400"/>
            </a:pPr>
            <a:r>
              <a:t>Enhance the AI reporting agent with more advanced diagnostics.</a:t>
            </a:r>
          </a:p>
          <a:p>
            <a:pPr>
              <a:defRPr b="1" i="0" sz="2400"/>
            </a:pPr>
            <a:r>
              <a:t>Phase 3: Autonomous Operation (Future)</a:t>
            </a:r>
          </a:p>
          <a:p>
            <a:pPr lvl="1">
              <a:defRPr b="0" i="0" sz="2400"/>
            </a:pPr>
            <a:r>
              <a:t>Implement proactive, scheduled resilience checks.</a:t>
            </a:r>
          </a:p>
          <a:p>
            <a:pPr lvl="1">
              <a:defRPr b="0" i="0" sz="2400"/>
            </a:pPr>
            <a:r>
              <a:t>Explore self-healing capabilities and automated remediation suggestions.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0052A5"/>
                </a:solidFill>
              </a:defRPr>
            </a:pPr>
            <a:r>
              <a:t>Thank You &amp;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08080"/>
                </a:solidFill>
              </a:defRPr>
            </a:pPr>
            <a:r>
              <a:t>Cortex Performance Engine |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