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title slide sets the stage for the entire presentation. It should be clean, professional, and clearly state the project's name and its high-level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crucial for stakeholders. It immediately answers 'What is this about and why should I care?'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clearly articulates the four key pillars of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shows the high-level flow. The Cortex Engine is a separate, independent system that observes and tests the target application without being part of it, which is a key architectural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the agenda for the live demo portion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ROI is clear. The platform pays for itself by avoiding the cost of a single engineer's time for one week, while continuously reducing infrastructure spend and mitigating outage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Cortex Performance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solidFill>
                  <a:srgbClr val="808080"/>
                </a:solidFill>
              </a:defRPr>
            </a:pPr>
            <a:r>
              <a:t>An Intelligent, Agentic Resilience &amp; Performance Platform on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Executive Summary: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i="0" sz="2400"/>
            </a:pPr>
            <a:r>
              <a:t>The Problem:</a:t>
            </a:r>
            <a:r>
              <a:rPr b="0" i="0"/>
              <a:t> Our current performance testing is slow, manual, and costly, creating a bottleneck for innovation and leaving us vulnerable to production failures.</a:t>
            </a:r>
          </a:p>
          <a:p>
            <a:pPr>
              <a:defRPr b="1" i="0" sz="2400"/>
            </a:pPr>
            <a:r>
              <a:t>The Solution:</a:t>
            </a:r>
            <a:r>
              <a:rPr b="0" i="0"/>
              <a:t> The Cortex Performance Engine is a serverless, AI-driven platform that automates the entire resilience engineering lifecycle, from test creation to root cause analysis.</a:t>
            </a:r>
          </a:p>
          <a:p>
            <a:pPr>
              <a:defRPr b="1" i="0" sz="2400"/>
            </a:pPr>
            <a:r>
              <a:t>The Ask:</a:t>
            </a:r>
            <a:r>
              <a:rPr b="0" i="0"/>
              <a:t> We seek approval to deploy the prototype and integrate it with our primary e-commerce application to validate its business impact.</a:t>
            </a:r>
          </a:p>
          <a:p>
            <a:pPr>
              <a:defRPr b="1" i="0" sz="2400"/>
            </a:pPr>
            <a:r>
              <a:t>The ROI:</a:t>
            </a:r>
            <a:r>
              <a:rPr b="0" i="0"/>
              <a:t> We project a 90%+ reduction in testing infrastructure costs and a 95%+ reduction in manual effort, enabling faster delivery and more resilient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1. The Strategic Objective: Why We Need This</a:t>
            </a:r>
          </a:p>
          <a:p>
            <a:pPr>
              <a:defRPr sz="2400"/>
            </a:pPr>
            <a:r>
              <a:t>2. The Problem with the Status Quo</a:t>
            </a:r>
          </a:p>
          <a:p>
            <a:pPr>
              <a:defRPr sz="2400"/>
            </a:pPr>
            <a:r>
              <a:t>3. Our Solution: The Cortex Performance Engine</a:t>
            </a:r>
          </a:p>
          <a:p>
            <a:pPr>
              <a:defRPr sz="2400"/>
            </a:pPr>
            <a:r>
              <a:t>4. Architecture Deep Dive</a:t>
            </a:r>
          </a:p>
          <a:p>
            <a:pPr>
              <a:defRPr sz="2400"/>
            </a:pPr>
            <a:r>
              <a:t>5. Key Advantages &amp; Business Impact</a:t>
            </a:r>
          </a:p>
          <a:p>
            <a:pPr>
              <a:defRPr sz="2400"/>
            </a:pPr>
            <a:r>
              <a:t>6. Live Prototype Demonstration</a:t>
            </a:r>
          </a:p>
          <a:p>
            <a:pPr>
              <a:defRPr sz="2400"/>
            </a:pPr>
            <a:r>
              <a:t>7. Financials: Cost &amp; ROI Analysis</a:t>
            </a:r>
          </a:p>
          <a:p>
            <a:pPr>
              <a:defRPr sz="2400"/>
            </a:pPr>
            <a:r>
              <a:t>8. 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The Strategic Objective: Speed with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Our core business objective is to accelerate feature delivery while ensuring rock-solid application stability and performance.</a:t>
            </a:r>
          </a:p>
          <a:p>
            <a:pPr>
              <a:defRPr sz="2400"/>
            </a:pPr>
            <a:r>
              <a:t>To achieve this, we must move from a reactive, manual testing model to a proactive, automated resilience validation culture.</a:t>
            </a:r>
          </a:p>
          <a:p>
            <a:pPr lvl="1">
              <a:defRPr b="0" i="1" sz="2400"/>
            </a:pPr>
            <a:r>
              <a:t>The Cortex Performance Engine is the key enabler of this strategic shift.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The Problem: The High Cost of Manual Testing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286000"/>
          <a:ext cx="12801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  <a:gridCol w="4267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Manual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Engineers spend weeks writing brittle test scripts.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Slows down release cycles; High personnel cost.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Infrastructure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Requires dedicated, always-on servers for test controllers.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Wasteful spending; Significant maintenance overhead.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Disconnected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 results, server metrics, and logs are in different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Difficult to correlate cause and effect; Slow root cause analysis.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Production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Tests are based on assumptions, not real user behavior.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False sense of security; Production incidents still occur.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The Solution: Cortex Performance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i="0" sz="2400"/>
            </a:pPr>
            <a:r>
              <a:t>Chatbot-Driven:</a:t>
            </a:r>
            <a:r>
              <a:rPr b="0" i="0"/>
              <a:t> Users define and launch complex tests using simple, natural language.</a:t>
            </a:r>
          </a:p>
          <a:p>
            <a:pPr>
              <a:defRPr b="1" i="0" sz="2400"/>
            </a:pPr>
            <a:r>
              <a:t>AI-Powered:</a:t>
            </a:r>
            <a:r>
              <a:rPr b="0" i="0"/>
              <a:t> Generative AI (Amazon Bedrock) analyzes logs, generates test scripts, and writes expert-level performance reports automatically.</a:t>
            </a:r>
          </a:p>
          <a:p>
            <a:pPr>
              <a:defRPr b="1" i="0" sz="2400"/>
            </a:pPr>
            <a:r>
              <a:t>Fully Automated:</a:t>
            </a:r>
            <a:r>
              <a:rPr b="0" i="0"/>
              <a:t> The platform is orchestrated by AWS Step Functions, requiring zero manual intervention from start to finish.</a:t>
            </a:r>
          </a:p>
          <a:p>
            <a:pPr>
              <a:defRPr b="1" i="0" sz="2400"/>
            </a:pPr>
            <a:r>
              <a:t>Cost-Optimized:</a:t>
            </a:r>
            <a:r>
              <a:rPr b="0" i="0"/>
              <a:t> Built on a serverless foundation (Lambda, Fargate Spot) to minimize costs, projecting a 90%+ reduction in test infrastructure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Architecture Part 1: The High-Level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6858000" cy="5943600"/>
          </a:xfrm>
          <a:prstGeom prst="rect">
            <a:avLst/>
          </a:prstGeom>
          <a:solidFill>
            <a:srgbClr val="DCE6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400" b="1"/>
            </a:pPr>
            <a:r>
              <a:t>Cortex Performance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0" y="1371600"/>
            <a:ext cx="6629400" cy="5943600"/>
          </a:xfrm>
          <a:prstGeom prst="rect">
            <a:avLst/>
          </a:prstGeom>
          <a:solidFill>
            <a:srgbClr val="E2F0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400" b="1"/>
            </a:pPr>
            <a:r>
              <a:t>Target E-Commerce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543800"/>
            <a:ext cx="13716000" cy="45720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400" b="1"/>
            </a:pPr>
            <a:r>
              <a:t>Shared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371600" cy="685800"/>
          </a:xfrm>
          <a:prstGeom prst="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1828800" cy="685800"/>
          </a:xfrm>
          <a:prstGeom prst="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AWS Lex</a:t>
            </a:r>
          </a:p>
          <a:p>
            <a:r>
              <a:t>(Chatbot)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2743200" cy="13716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AWS Step Functions</a:t>
            </a:r>
          </a:p>
          <a:p>
            <a:r>
              <a:t>(Orchestrator)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00400"/>
            <a:ext cx="27432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Agent: Log Analyzer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114800"/>
            <a:ext cx="27432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Agent: Script 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5029200"/>
            <a:ext cx="27432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Agent: Test Executor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943600"/>
            <a:ext cx="27432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Agent: Report Synthesizer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200400"/>
            <a:ext cx="22860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CloudFront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01400" y="3200400"/>
            <a:ext cx="25146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S3 Bucket</a:t>
            </a:r>
          </a:p>
          <a:p>
            <a:r>
              <a:t>(React Frontend)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5029200"/>
            <a:ext cx="22860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01400" y="5029200"/>
            <a:ext cx="2514600" cy="6858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Lambda</a:t>
            </a:r>
          </a:p>
          <a:p>
            <a:r>
              <a:t>(FastAPI Backend)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543800"/>
            <a:ext cx="5943600" cy="4572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S3 Artifacts Bucket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7543800"/>
            <a:ext cx="5943600" cy="45720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73152" tIns="73152"/>
          <a:lstStyle/>
          <a:p>
            <a:pPr algn="ctr">
              <a:defRPr sz="1200" b="1"/>
            </a:pPr>
            <a:r>
              <a:t>CloudWatch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 b="0">
                <a:solidFill>
                  <a:srgbClr val="BF9000"/>
                </a:solidFill>
              </a:defRPr>
            </a:pPr>
            <a:r>
              <a:t>1. 'Run a test...'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 b="0">
                <a:solidFill>
                  <a:srgbClr val="BF9000"/>
                </a:solidFill>
              </a:defRPr>
            </a:pPr>
            <a:r>
              <a:t>2. Starts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800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 b="0">
                <a:solidFill>
                  <a:srgbClr val="BF9000"/>
                </a:solidFill>
              </a:defRPr>
            </a:pPr>
            <a:r>
              <a:t>3. Orchestrates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629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 b="0">
                <a:solidFill>
                  <a:srgbClr val="BF9000"/>
                </a:solidFill>
              </a:defRPr>
            </a:pPr>
            <a:r>
              <a:t>4. Reads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 b="0">
                <a:solidFill>
                  <a:srgbClr val="BF9000"/>
                </a:solidFill>
              </a:defRPr>
            </a:pPr>
            <a:r>
              <a:t>5. Applies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29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 b="0">
                <a:solidFill>
                  <a:srgbClr val="BF9000"/>
                </a:solidFill>
              </a:defRPr>
            </a:pPr>
            <a:r>
              <a:t>6. Writes/Reads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Architecture Part 2: Rationale &amp;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i="0" sz="2400"/>
            </a:pPr>
            <a:r>
              <a:t>How Real-Time Communication Works:</a:t>
            </a:r>
          </a:p>
          <a:p>
            <a:pPr lvl="1">
              <a:defRPr b="0" i="0" sz="2400"/>
            </a:pPr>
            <a:r>
              <a:t>The entire process is asynchronous. Step Functions passes a JSON state object between each agent, containing a unique `runId` and pointers to artifacts in the S3 bucket.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12801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6400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Why We Chose It (The Rationale)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AWS Step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Provides visual workflows, error handling, and retries out-of-the-box. Perfect for sequencing agentic tasks. It's the serverless 'brain' of the operation.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AWS 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Ideal for short-lived, event-driven tasks like our agents. We only pay for compute time used, ensuring maximum cost-efficiency. Zero server management.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AWS Fargate (Spot)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Combines serverless benefits (no EC2 management) with massive cost savings (up to 90% for Spot). Perfect for the containerized JMeter test executor.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Amazon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Gives us easy, secure access to powerful foundation models without managing ML infrastructure. This is the core of our AI-driven analysis and generation capabilities.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S3 Artifacts 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Acts as the central, decoupled data bus. Agents communicate indirectly by passing data (logs, scripts, reports) through S3, making the system robust and scalable.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Key Advantages: The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i="0" sz="2400"/>
            </a:pPr>
            <a:r>
              <a:t>Accelerated Delivery:</a:t>
            </a:r>
            <a:r>
              <a:rPr b="0" i="0"/>
              <a:t> Reduce test creation time from weeks to minutes, removing bottlenecks and enabling faster time-to-market.</a:t>
            </a:r>
          </a:p>
          <a:p>
            <a:pPr>
              <a:defRPr b="1" i="0" sz="2400"/>
            </a:pPr>
            <a:r>
              <a:t>Drastic Cost Reduction:</a:t>
            </a:r>
            <a:r>
              <a:rPr b="0" i="0"/>
              <a:t> Save over 90% on infrastructure costs by leveraging a serverless, pay-per-use model instead of always-on servers.</a:t>
            </a:r>
          </a:p>
          <a:p>
            <a:pPr>
              <a:defRPr b="1" i="0" sz="2400"/>
            </a:pPr>
            <a:r>
              <a:t>Increased Resilience:</a:t>
            </a:r>
            <a:r>
              <a:rPr b="0" i="0"/>
              <a:t> Proactively find and fix performance and chaos issues before they impact customers, reducing the risk of costly outages.</a:t>
            </a:r>
          </a:p>
          <a:p>
            <a:pPr>
              <a:defRPr b="1" i="0" sz="2400"/>
            </a:pPr>
            <a:r>
              <a:t>Improved Developer Productivity:</a:t>
            </a:r>
            <a:r>
              <a:rPr b="0" i="0"/>
              <a:t> Automate tedious tasks, freeing up expert engineers to focus on innovation and high-value work.</a:t>
            </a:r>
          </a:p>
          <a:p>
            <a:pPr>
              <a:defRPr b="1" i="0" sz="2400"/>
            </a:pPr>
            <a:r>
              <a:t>Democratized Testing:</a:t>
            </a:r>
            <a:r>
              <a:rPr b="0" i="0"/>
              <a:t> Empower more team members to run sophisticated tests via a simple chatbot, fostering a culture of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Live Prototype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i="0" sz="2400"/>
            </a:pPr>
            <a:r>
              <a:t>1. Triggering the Test:</a:t>
            </a:r>
            <a:r>
              <a:rPr b="0" i="0"/>
              <a:t> We will interact with the chatbot in the AWS Lex console to launch a load test.</a:t>
            </a:r>
          </a:p>
          <a:p>
            <a:pPr>
              <a:defRPr b="1" i="0" sz="2400"/>
            </a:pPr>
            <a:r>
              <a:t>2. Monitoring the Pipeline:</a:t>
            </a:r>
            <a:r>
              <a:rPr b="0" i="0"/>
              <a:t> We will observe the AWS Step Functions graph to see the automated workflow in real-time.</a:t>
            </a:r>
          </a:p>
          <a:p>
            <a:pPr>
              <a:defRPr b="1" i="0" sz="2400"/>
            </a:pPr>
            <a:r>
              <a:t>3. Viewing the AI-Generated Report:</a:t>
            </a:r>
            <a:r>
              <a:rPr b="0" i="0"/>
              <a:t> We will review the final PDF report in S3, complete with metrics, analysis, and AI-generated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Financials: Cost &amp; ROI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286000"/>
          <a:ext cx="12801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Traditional Manual Approach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Agentic Platform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52A5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Personnel Effort (per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40-80 hours (~$4k-$8k)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 1 hour (~$100)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&gt;98% Reduction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 Infrastructure (monthly)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~$500+ (always-on servers)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&lt;$30 (pay-per-use)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&gt;94% Reduction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Reporting &amp; Analysis (per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4-8 hours (~$400-$800)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 hours (fully automated)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 Reduction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i="0" sz="2400"/>
            </a:pPr>
            <a:r>
              <a:t>Phase 1: Deploy &amp; Validate (This Quarter)</a:t>
            </a:r>
          </a:p>
          <a:p>
            <a:pPr lvl="1">
              <a:defRPr b="0" i="0" sz="2400"/>
            </a:pPr>
            <a:r>
              <a:t>Deploy the Cortex Engine prototype to AWS.</a:t>
            </a:r>
          </a:p>
          <a:p>
            <a:pPr lvl="1">
              <a:defRPr b="0" i="0" sz="2400"/>
            </a:pPr>
            <a:r>
              <a:t>Integrate with the e-commerce application.</a:t>
            </a:r>
          </a:p>
          <a:p>
            <a:pPr lvl="1">
              <a:defRPr b="0" i="0" sz="2400"/>
            </a:pPr>
            <a:r>
              <a:t>Execute baseline tests and validate cost savings and performance metrics.</a:t>
            </a:r>
          </a:p>
          <a:p>
            <a:pPr>
              <a:defRPr b="1" i="0" sz="2400"/>
            </a:pPr>
            <a:r>
              <a:t>Phase 2: Enhance &amp; Expand (Next Quarter)</a:t>
            </a:r>
          </a:p>
          <a:p>
            <a:pPr lvl="1">
              <a:defRPr b="0" i="0" sz="2400"/>
            </a:pPr>
            <a:r>
              <a:t>Onboard additional development teams.</a:t>
            </a:r>
          </a:p>
          <a:p>
            <a:pPr lvl="1">
              <a:defRPr b="0" i="0" sz="2400"/>
            </a:pPr>
            <a:r>
              <a:t>Enhance the AI reporting agent with more advanced diagnostics.</a:t>
            </a:r>
          </a:p>
          <a:p>
            <a:pPr>
              <a:defRPr b="1" i="0" sz="2400"/>
            </a:pPr>
            <a:r>
              <a:t>Phase 3: Autonomous Operation (Future)</a:t>
            </a:r>
          </a:p>
          <a:p>
            <a:pPr lvl="1">
              <a:defRPr b="0" i="0" sz="2400"/>
            </a:pPr>
            <a:r>
              <a:t>Implement proactive, scheduled resilience checks.</a:t>
            </a:r>
          </a:p>
          <a:p>
            <a:pPr lvl="1">
              <a:defRPr b="0" i="0" sz="2400"/>
            </a:pPr>
            <a:r>
              <a:t>Explore self-healing capabilities and automated remediation suggestions.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2A5"/>
                </a:solidFill>
              </a:defRPr>
            </a:pPr>
            <a:r>
              <a:t>Thank You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Cortex Performance Engine |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