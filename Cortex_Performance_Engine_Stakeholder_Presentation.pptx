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diagram shows the high-level flow. The Cortex Engine is a separate, independent system that observes and tests the target application without being part of it, which is a key architectural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deploy the prototype and integrate it with our primary e-commerce application to validate its business impact.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1: The High-Level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6858000" cy="5943600"/>
          </a:xfrm>
          <a:prstGeom prst="rect">
            <a:avLst/>
          </a:prstGeom>
          <a:solidFill>
            <a:srgbClr val="DCE6F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400" b="1"/>
            </a:pPr>
            <a:r>
              <a:t>Cortex Performance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543800" y="1371600"/>
            <a:ext cx="6629400" cy="5943600"/>
          </a:xfrm>
          <a:prstGeom prst="rect">
            <a:avLst/>
          </a:prstGeom>
          <a:solidFill>
            <a:srgbClr val="E2F0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400" b="1"/>
            </a:pPr>
            <a:r>
              <a:t>Target E-Commerce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543800"/>
            <a:ext cx="13716000" cy="457200"/>
          </a:xfrm>
          <a:prstGeom prst="rect">
            <a:avLst/>
          </a:prstGeom>
          <a:solidFill>
            <a:srgbClr val="F2F2F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400" b="1"/>
            </a:pPr>
            <a:r>
              <a:t>Shared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0" cy="685800"/>
          </a:xfrm>
          <a:prstGeom prst="rect">
            <a:avLst/>
          </a:prstGeom>
          <a:solidFill>
            <a:srgbClr val="FFF2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User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828800"/>
            <a:ext cx="1828800" cy="685800"/>
          </a:xfrm>
          <a:prstGeom prst="rect">
            <a:avLst/>
          </a:prstGeom>
          <a:solidFill>
            <a:srgbClr val="FFF2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AWS Lex</a:t>
            </a:r>
          </a:p>
          <a:p>
            <a:r>
              <a:t>(Chatbot)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AWS Step Functions</a:t>
            </a:r>
          </a:p>
          <a:p>
            <a:r>
              <a:t>(Orchestrator)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2004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Agent: Log Analyzer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1148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Agent: Script Generator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50292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Agent: Test Executor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9436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Agent: Report Synthesizer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3200400"/>
            <a:ext cx="22860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CloudFront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201400" y="3200400"/>
            <a:ext cx="25146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S3 Bucket</a:t>
            </a:r>
          </a:p>
          <a:p>
            <a:r>
              <a:t>(React Frontend)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5029200"/>
            <a:ext cx="22860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API 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01400" y="5029200"/>
            <a:ext cx="25146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Lambda</a:t>
            </a:r>
          </a:p>
          <a:p>
            <a:r>
              <a:t>(FastAPI Backend)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543800"/>
            <a:ext cx="5943600" cy="4572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S3 Artifacts Bucket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7543800"/>
            <a:ext cx="5943600" cy="4572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bIns="73152" tIns="73152"/>
          <a:lstStyle/>
          <a:p>
            <a:pPr algn="ctr">
              <a:defRPr sz="1200" b="1"/>
            </a:pPr>
            <a:r>
              <a:t>CloudWatch Logs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 b="0">
                <a:solidFill>
                  <a:srgbClr val="BF9000"/>
                </a:solidFill>
              </a:defRPr>
            </a:pPr>
            <a:r>
              <a:t>1. 'Run a test...'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2004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 b="0">
                <a:solidFill>
                  <a:srgbClr val="BF9000"/>
                </a:solidFill>
              </a:defRPr>
            </a:pPr>
            <a:r>
              <a:t>2. Starts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8006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 b="0">
                <a:solidFill>
                  <a:srgbClr val="BF9000"/>
                </a:solidFill>
              </a:defRPr>
            </a:pPr>
            <a:r>
              <a:t>3. Orchestrates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6294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 b="0">
                <a:solidFill>
                  <a:srgbClr val="BF9000"/>
                </a:solidFill>
              </a:defRPr>
            </a:pPr>
            <a:r>
              <a:t>4. Reads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114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 b="0">
                <a:solidFill>
                  <a:srgbClr val="BF9000"/>
                </a:solidFill>
              </a:defRPr>
            </a:pPr>
            <a:r>
              <a:t>5. Applies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6294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 b="0">
                <a:solidFill>
                  <a:srgbClr val="BF9000"/>
                </a:solidFill>
              </a:defRPr>
            </a:pPr>
            <a:r>
              <a:t>6. Writes/Reads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Architecture Part 2: Rationale &amp; Communication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How Real-Time Communication Works:</a:t>
            </a:r>
          </a:p>
          <a:p>
            <a:pPr lvl="1">
              <a:defRPr b="0" i="0" sz="2400"/>
            </a:pPr>
            <a:r>
              <a:t>The entire process is asynchronous. Step Functions passes a JSON state object between each agent, containing a unique `runId` and pointers to artifacts in the S3 bucket.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6400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Why We Chose It (The Rationale)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Step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Provides visual workflows, error handling, and retries out-of-the-box. Perfect for sequencing agentic tasks. It's the serverless 'brain' of the operation.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Lambda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Ideal for short-lived, event-driven tasks like our agents. We only pay for compute time used, ensuring maximum cost-efficiency. Zero server management.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AWS Fargate (Spot)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Combines serverless benefits (no EC2 management) with massive cost savings (up to 90% for Spot). Perfect for the containerized JMeter test executor.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Amazon Bedrock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Gives us easy, secure access to powerful foundation models without managing ML infrastructure. This is the core of our AI-driven analysis and generation capabilities.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S3 Artifacts Bucket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Acts as the central, decoupled data bus. Agents communicate indirectly by passing data (logs, scripts, reports) through S3, making the system robust and scalable.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Deploy &amp; Validate (This Quarter)</a:t>
            </a:r>
          </a:p>
          <a:p>
            <a:pPr lvl="1">
              <a:defRPr b="0" i="0" sz="2400"/>
            </a:pPr>
            <a:r>
              <a:t>Deploy the Cortex Engine prototype to AWS.</a:t>
            </a:r>
          </a:p>
          <a:p>
            <a:pPr lvl="1">
              <a:defRPr b="0" i="0" sz="2400"/>
            </a:pPr>
            <a:r>
              <a:t>Integrate with the e-commerce application.</a:t>
            </a:r>
          </a:p>
          <a:p>
            <a:pPr lvl="1">
              <a:defRPr b="0" i="0" sz="2400"/>
            </a:pPr>
            <a:r>
              <a:t>Execute baseline tests and validate cost savings and performance metrics.</a:t>
            </a:r>
          </a:p>
          <a:p>
            <a:pPr>
              <a:defRPr b="1" i="0" sz="2400"/>
            </a:pPr>
            <a:r>
              <a:t>Phase 2: Enhance &amp; Expand (Next Quarter)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