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title slide sets the stage for the entire presentation. It should be clean, professional, and clearly state the project's name and its high-level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crucial for stakeholders. It immediately answers 'What is this about and why should I care?'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clearly articulates the four key pillars of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target application. It's a modern, serverless web app. Understanding its components is key to understanding how we test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solution. It's an event-driven system where each agent is a specialized microservice. Step Functions acts as the central brain, ensuring tasks run in the correct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architectural choices are deliberate, focusing on serverless-first principles to reduce operational overhead and cost at every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complete picture. The Cortex Engine (left) is a fully independent system that interacts with the Target Application (right) only through public APIs and by observing logs, just like a real user and an SRE would.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the agenda for the live demo portion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ROI is clear. The platform pays for itself by avoiding the cost of a single engineer's time for one week, while continuously reducing infrastructure spend and mitigating outage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Cortex Performance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 i="1">
                <a:solidFill>
                  <a:srgbClr val="808080"/>
                </a:solidFill>
              </a:defRPr>
            </a:pPr>
            <a:r>
              <a:t>An Intelligent, Agentic Resilience &amp; Performance Platform on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Executive Summary: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The Problem:</a:t>
            </a:r>
            <a:r>
              <a:rPr b="0" i="0"/>
              <a:t> Our current performance testing is slow, manual, and costly, creating a bottleneck for innovation and leaving us vulnerable to production failures.</a:t>
            </a:r>
          </a:p>
          <a:p>
            <a:pPr>
              <a:defRPr b="1" i="0" sz="2400"/>
            </a:pPr>
            <a:r>
              <a:t>The Solution:</a:t>
            </a:r>
            <a:r>
              <a:rPr b="0" i="0"/>
              <a:t> The Cortex Performance Engine is a serverless, AI-driven platform that automates the entire resilience engineering lifecycle, from test creation to root cause analysis.</a:t>
            </a:r>
          </a:p>
          <a:p>
            <a:pPr>
              <a:defRPr b="1" i="0" sz="2400"/>
            </a:pPr>
            <a:r>
              <a:t>The Ask:</a:t>
            </a:r>
            <a:r>
              <a:rPr b="0" i="0"/>
              <a:t> We seek approval to deploy the prototype and integrate it with our primary e-commerce application to validate its business impact.</a:t>
            </a:r>
          </a:p>
          <a:p>
            <a:pPr>
              <a:defRPr b="1" i="0" sz="2400"/>
            </a:pPr>
            <a:r>
              <a:t>The ROI:</a:t>
            </a:r>
            <a:r>
              <a:rPr b="0" i="0"/>
              <a:t> We project a 90%+ reduction in testing infrastructure costs and a 95%+ reduction in manual effort, enabling faster delivery and more resilient applications.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2 of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The Strategic Objective: Why We Need This</a:t>
            </a:r>
          </a:p>
          <a:p>
            <a:pPr>
              <a:defRPr sz="2400"/>
            </a:pPr>
            <a:r>
              <a:t>2. The Problem with the Status Quo</a:t>
            </a:r>
          </a:p>
          <a:p>
            <a:pPr>
              <a:defRPr sz="2400"/>
            </a:pPr>
            <a:r>
              <a:t>3. Our Solution: The Cortex Performance Engine</a:t>
            </a:r>
          </a:p>
          <a:p>
            <a:pPr>
              <a:defRPr sz="2400"/>
            </a:pPr>
            <a:r>
              <a:t>4. Architecture Deep Dive</a:t>
            </a:r>
          </a:p>
          <a:p>
            <a:pPr>
              <a:defRPr sz="2400"/>
            </a:pPr>
            <a:r>
              <a:t>5. Key Advantages &amp; Business Impact</a:t>
            </a:r>
          </a:p>
          <a:p>
            <a:pPr>
              <a:defRPr sz="2400"/>
            </a:pPr>
            <a:r>
              <a:t>6. Live Prototype Demonstration</a:t>
            </a:r>
          </a:p>
          <a:p>
            <a:pPr>
              <a:defRPr sz="2400"/>
            </a:pPr>
            <a:r>
              <a:t>7. Financials: Cost &amp; ROI Analysis</a:t>
            </a:r>
          </a:p>
          <a:p>
            <a:pPr>
              <a:defRPr sz="2400"/>
            </a:pPr>
            <a:r>
              <a:t>8. Roadmap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3 of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Strategic Objective: Speed with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Our core business objective is to accelerate feature delivery while ensuring rock-solid application stability and performance.</a:t>
            </a:r>
          </a:p>
          <a:p>
            <a:pPr>
              <a:defRPr sz="2400"/>
            </a:pPr>
            <a:r>
              <a:t>To achieve this, we must move from a reactive, manual testing model to a proactive, automated resilience validation culture.</a:t>
            </a:r>
          </a:p>
          <a:p>
            <a:pPr lvl="1">
              <a:defRPr b="0" i="1" sz="2400"/>
            </a:pPr>
            <a:r>
              <a:t>The Cortex Performance Engine is the key enabler of this strategic shift.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4 of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Problem: The High Cost of Manual Testing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200"/>
                <a:gridCol w="4267200"/>
                <a:gridCol w="42672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Manual Effort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Engineers spend weeks writing brittle test scripts.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Slows down release cycles; High personnel cost.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Infrastructure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Requires dedicated, always-on servers for test controllers.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Wasteful spending; Significant maintenance overhead.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Disconnected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results, server metrics, and logs are in different systems.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Difficult to correlate cause and effect; Slow root cause analysis.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Production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Tests are based on assumptions, not real user behavior.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False sense of security; Production incidents still occur.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5 of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Solution: Cortex Performance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Chatbot-Driven:</a:t>
            </a:r>
            <a:r>
              <a:rPr b="0" i="0"/>
              <a:t> Users define and launch complex tests using simple, natural language.</a:t>
            </a:r>
          </a:p>
          <a:p>
            <a:pPr>
              <a:defRPr b="1" i="0" sz="2400"/>
            </a:pPr>
            <a:r>
              <a:t>AI-Powered:</a:t>
            </a:r>
            <a:r>
              <a:rPr b="0" i="0"/>
              <a:t> Generative AI (Amazon Bedrock) analyzes logs, generates test scripts, and writes expert-level performance reports automatically.</a:t>
            </a:r>
          </a:p>
          <a:p>
            <a:pPr>
              <a:defRPr b="1" i="0" sz="2400"/>
            </a:pPr>
            <a:r>
              <a:t>Fully Automated:</a:t>
            </a:r>
            <a:r>
              <a:rPr b="0" i="0"/>
              <a:t> The platform is orchestrated by AWS Step Functions, requiring zero manual intervention from start to finish.</a:t>
            </a:r>
          </a:p>
          <a:p>
            <a:pPr>
              <a:defRPr b="1" i="0" sz="2400"/>
            </a:pPr>
            <a:r>
              <a:t>Cost-Optimized:</a:t>
            </a:r>
            <a:r>
              <a:rPr b="0" i="0"/>
              <a:t> Built on a serverless foundation (Lambda, Fargate Spot) to minimize costs, projecting a 90%+ reduction in test infrastructure spend.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6 of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1: The E-Commerce Web Application</a:t>
            </a:r>
          </a:p>
        </p:txBody>
      </p:sp>
      <p:pic>
        <p:nvPicPr>
          <p:cNvPr id="3" name="Picture 2" descr="ecommerce_architectur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3716000" cy="7715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7 of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2: The Cortex Performance Engine</a:t>
            </a:r>
          </a:p>
        </p:txBody>
      </p:sp>
      <p:pic>
        <p:nvPicPr>
          <p:cNvPr id="3" name="Picture 2" descr="cortex_engine_architectur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3716000" cy="7715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8 of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3: AWS Services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200"/>
                <a:gridCol w="4267200"/>
                <a:gridCol w="4267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Service Chosen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Why We Chose It (The Rationale)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User 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Provides a natural language interface, making the powerful backend accessible to everyone without a complex UI.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Step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Gives us visual workflows, built-in error handling, and state management. It's the perfect serverless 'brain' for our agentic system.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AI / Machine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Amazon Bedrock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Provides secure, serverless access to powerful foundation models for script generation and report analysis, without any ML overhead.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Serverless Compute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Lambda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Ideal for short-lived, event-driven tasks like our agents. We only pay per millisecond, ensuring maximum cost-efficiency.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Container Compute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Fargate Spot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The best of both worlds: serverless container orchestration with massive (up to 90%) cost savings. Perfect for the JMeter load generators.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9 of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Consolidated Architecture: The Full Ecosystem</a:t>
            </a:r>
          </a:p>
        </p:txBody>
      </p:sp>
      <p:pic>
        <p:nvPicPr>
          <p:cNvPr id="3" name="Picture 2" descr="consolidated_architectur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3716000" cy="7715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10 of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Key Advantages: The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Accelerated Delivery:</a:t>
            </a:r>
            <a:r>
              <a:rPr b="0" i="0"/>
              <a:t> Reduce test creation time from weeks to minutes, removing bottlenecks and enabling faster time-to-market.</a:t>
            </a:r>
          </a:p>
          <a:p>
            <a:pPr>
              <a:defRPr b="1" i="0" sz="2400"/>
            </a:pPr>
            <a:r>
              <a:t>Drastic Cost Reduction:</a:t>
            </a:r>
            <a:r>
              <a:rPr b="0" i="0"/>
              <a:t> Save over 90% on infrastructure costs by leveraging a serverless, pay-per-use model instead of always-on servers.</a:t>
            </a:r>
          </a:p>
          <a:p>
            <a:pPr>
              <a:defRPr b="1" i="0" sz="2400"/>
            </a:pPr>
            <a:r>
              <a:t>Increased Resilience:</a:t>
            </a:r>
            <a:r>
              <a:rPr b="0" i="0"/>
              <a:t> Proactively find and fix performance and chaos issues before they impact customers, reducing the risk of costly outages.</a:t>
            </a:r>
          </a:p>
          <a:p>
            <a:pPr>
              <a:defRPr b="1" i="0" sz="2400"/>
            </a:pPr>
            <a:r>
              <a:t>Improved Developer Productivity:</a:t>
            </a:r>
            <a:r>
              <a:rPr b="0" i="0"/>
              <a:t> Automate tedious tasks, freeing up expert engineers to focus on innovation and high-value work.</a:t>
            </a:r>
          </a:p>
          <a:p>
            <a:pPr>
              <a:defRPr b="1" i="0" sz="2400"/>
            </a:pPr>
            <a:r>
              <a:t>Democratized Testing:</a:t>
            </a:r>
            <a:r>
              <a:rPr b="0" i="0"/>
              <a:t> Empower more team members to run sophisticated tests via a simple chatbot, fostering a culture of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11 of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Live Prototype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1. Triggering the Test:</a:t>
            </a:r>
            <a:r>
              <a:rPr b="0" i="0"/>
              <a:t> We will interact with the chatbot in the AWS Lex console to launch a load test.</a:t>
            </a:r>
          </a:p>
          <a:p>
            <a:pPr>
              <a:defRPr b="1" i="0" sz="2400"/>
            </a:pPr>
            <a:r>
              <a:t>2. Monitoring the Pipeline:</a:t>
            </a:r>
            <a:r>
              <a:rPr b="0" i="0"/>
              <a:t> We will observe the AWS Step Functions graph to see the automated workflow in real-time.</a:t>
            </a:r>
          </a:p>
          <a:p>
            <a:pPr>
              <a:defRPr b="1" i="0" sz="2400"/>
            </a:pPr>
            <a:r>
              <a:t>3. Viewing the AI-Generated Report:</a:t>
            </a:r>
            <a:r>
              <a:rPr b="0" i="0"/>
              <a:t> We will review the final PDF report in S3, complete with metrics, analysis, and AI-generated recommendations.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12 of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Financials: Cost &amp; ROI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  <a:gridCol w="320040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Traditional Manual Approach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Agentic Platform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Savings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Personnel Effort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40-80 hours (~$4k-$8k)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 1 hour (~$100)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&gt;98%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Infrastructure (monthly)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~$500+ (always-on servers)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&lt;$30 (pay-per-use)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&gt;94%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Reporting &amp; Analysis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4-8 hours (~$400-$800)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 hours (fully automated)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100% Reduction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13 of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Roadmap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Phase 1: Deploy &amp; Validate (This Quarter)</a:t>
            </a:r>
          </a:p>
          <a:p>
            <a:pPr lvl="1">
              <a:defRPr b="0" i="0" sz="2400"/>
            </a:pPr>
            <a:r>
              <a:t>Deploy the Cortex Engine prototype to AWS.</a:t>
            </a:r>
          </a:p>
          <a:p>
            <a:pPr lvl="1">
              <a:defRPr b="0" i="0" sz="2400"/>
            </a:pPr>
            <a:r>
              <a:t>Integrate with the e-commerce application.</a:t>
            </a:r>
          </a:p>
          <a:p>
            <a:pPr lvl="1">
              <a:defRPr b="0" i="0" sz="2400"/>
            </a:pPr>
            <a:r>
              <a:t>Execute baseline tests and validate cost savings and performance metrics.</a:t>
            </a:r>
          </a:p>
          <a:p>
            <a:pPr>
              <a:defRPr b="1" i="0" sz="2400"/>
            </a:pPr>
            <a:r>
              <a:t>Phase 2: Enhance &amp; Expand (Next Quarter)</a:t>
            </a:r>
          </a:p>
          <a:p>
            <a:pPr lvl="1">
              <a:defRPr b="0" i="0" sz="2400"/>
            </a:pPr>
            <a:r>
              <a:t>Onboard additional development teams.</a:t>
            </a:r>
          </a:p>
          <a:p>
            <a:pPr lvl="1">
              <a:defRPr b="0" i="0" sz="2400"/>
            </a:pPr>
            <a:r>
              <a:t>Enhance the AI reporting agent with more advanced diagnostics.</a:t>
            </a:r>
          </a:p>
          <a:p>
            <a:pPr>
              <a:defRPr b="1" i="0" sz="2400"/>
            </a:pPr>
            <a:r>
              <a:t>Phase 3: Autonomous Operation (Future)</a:t>
            </a:r>
          </a:p>
          <a:p>
            <a:pPr lvl="1">
              <a:defRPr b="0" i="0" sz="2400"/>
            </a:pPr>
            <a:r>
              <a:t>Implement proactive, scheduled resilience checks.</a:t>
            </a:r>
          </a:p>
          <a:p>
            <a:pPr lvl="1">
              <a:defRPr b="0" i="0" sz="2400"/>
            </a:pPr>
            <a:r>
              <a:t>Explore self-healing capabilities and automated remediation suggestions.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14 of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Thank You &amp;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15 of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